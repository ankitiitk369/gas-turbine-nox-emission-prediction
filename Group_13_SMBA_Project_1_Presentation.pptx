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75" r:id="rId9"/>
    <p:sldId id="260" r:id="rId10"/>
    <p:sldId id="278" r:id="rId11"/>
    <p:sldId id="261" r:id="rId12"/>
    <p:sldId id="262" r:id="rId13"/>
    <p:sldId id="264" r:id="rId14"/>
    <p:sldId id="285" r:id="rId15"/>
    <p:sldId id="266" r:id="rId16"/>
    <p:sldId id="286" r:id="rId17"/>
    <p:sldId id="276" r:id="rId18"/>
    <p:sldId id="277" r:id="rId19"/>
    <p:sldId id="281" r:id="rId20"/>
    <p:sldId id="282" r:id="rId21"/>
    <p:sldId id="280" r:id="rId22"/>
    <p:sldId id="284" r:id="rId23"/>
    <p:sldId id="283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BE9BC-1ACC-AB05-1FAD-7A15EE96AD7C}" v="191" dt="2026-09-30T09:21:21.720"/>
    <p1510:client id="{CD7F54F4-D5AB-4F16-81FD-824144FED6FD}" v="165" dt="2026-09-30T08:35:52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40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89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0B5FB-AA93-6D69-C9BF-3AF10186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1C6E2-FA65-6470-D3CE-8FEAE613D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4BA67-E356-150F-68EA-D483205AB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0A468-6EE9-D62D-32BC-2FF2E77F0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32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18F6-44C1-E4FF-AA73-46220169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0E47B-1F36-D7F6-54CB-3A26FAD6D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120C0-F6D7-F1E3-18FD-51CE611F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FD3B2-B40E-3399-4BDB-B85B559ED8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7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B396-E24B-3057-DAF0-5F21AFEA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993F8-7637-1F36-EB1C-357E53FFE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94E99-3A24-9179-6BE9-9745F9574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50DA4-CFE8-13CD-63AE-EE88638EF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93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98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32138-55BC-B5F1-5526-1BF04A48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804AA-9D3A-5C9B-7212-DAEFA62E2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0CF44-7129-9B33-6659-2929FEE92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E357A-B8D0-3CA6-EF6D-44F12E3F3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92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D559-1A5A-FD3C-864E-2FDD8611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748A2-944F-5E2B-68C8-26C9D87C3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66661-82A0-08F4-4611-80909E684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35B74-3DF5-60A1-B866-4EA97C522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1880-9D2D-31A6-6A84-00C327D8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11890-4AF7-BA93-BB3C-A8907AE07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FDDD0-1F90-9B87-21A1-BEF5C0CE6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01679-5F8A-2EF6-73D8-CF2B46D5C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6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9AB7-BF24-40F6-7F58-F578CCC7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1E36C-F5EB-8057-648F-712F67286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3B195-07DE-B088-3423-18C7BFAEB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26A2A-3746-F584-88F1-4A2A8E3C0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38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84436-A1E5-3A7B-3ECB-E92452E5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16A32-8572-E8E1-97B9-CC4D99196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7EC2D-F4E1-2CF5-C668-989E67C77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AAC0E-53D2-3869-7007-103DC163D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49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 amt="82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931168" y="297314"/>
            <a:ext cx="8764621" cy="117249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0"/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err="1">
                <a:latin typeface="Cambria" pitchFamily="34" charset="0"/>
                <a:ea typeface="Cambria" pitchFamily="34" charset="-122"/>
                <a:cs typeface="Cambria" pitchFamily="34" charset="-120"/>
              </a:rPr>
              <a:t>Analysing</a:t>
            </a:r>
            <a:r>
              <a:rPr lang="en-US" sz="3200" b="1">
                <a:latin typeface="Cambria" pitchFamily="34" charset="0"/>
                <a:ea typeface="Cambria" pitchFamily="34" charset="-122"/>
                <a:cs typeface="Cambria" pitchFamily="34" charset="-120"/>
              </a:rPr>
              <a:t> Factors Affecting Nitrogen Oxides (NOx) Emissions of Gas Turbine </a:t>
            </a:r>
            <a:endParaRPr lang="en-US" sz="32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D58078-1588-4FF1-BF32-01D8D0A84CD6}"/>
              </a:ext>
            </a:extLst>
          </p:cNvPr>
          <p:cNvGrpSpPr/>
          <p:nvPr/>
        </p:nvGrpSpPr>
        <p:grpSpPr>
          <a:xfrm>
            <a:off x="4356530" y="3221994"/>
            <a:ext cx="3743697" cy="1052184"/>
            <a:chOff x="4356530" y="3221994"/>
            <a:chExt cx="3743697" cy="1052184"/>
          </a:xfrm>
        </p:grpSpPr>
        <p:sp>
          <p:nvSpPr>
            <p:cNvPr id="2" name="Shape 0"/>
            <p:cNvSpPr/>
            <p:nvPr/>
          </p:nvSpPr>
          <p:spPr>
            <a:xfrm>
              <a:off x="4356530" y="3221994"/>
              <a:ext cx="3743697" cy="10521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 txBox="1"/>
            <p:nvPr/>
          </p:nvSpPr>
          <p:spPr>
            <a:xfrm>
              <a:off x="4526731" y="3290886"/>
              <a:ext cx="3573496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Submitted To :</a:t>
              </a: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22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  Prof. </a:t>
              </a:r>
              <a:r>
                <a:rPr lang="en-US" sz="2200" b="1" err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Devlina</a:t>
              </a:r>
              <a:r>
                <a:rPr lang="en-US" sz="22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Chatterjee</a:t>
              </a:r>
              <a:br>
                <a:rPr lang="en-US" sz="22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</a:br>
              <a:r>
                <a:rPr lang="en-US" sz="22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20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HOD-</a:t>
              </a:r>
              <a:r>
                <a:rPr lang="en-US" sz="2000" b="1" err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DoMS</a:t>
              </a:r>
              <a:r>
                <a:rPr lang="en-US" sz="2000" b="1">
                  <a:solidFill>
                    <a:srgbClr val="2B2E2E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, IIT Kanpur</a:t>
              </a:r>
              <a:endParaRPr 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283386E-7D5D-4F04-9A0E-9B1530FB2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500" y="1760177"/>
            <a:ext cx="1274229" cy="1274867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B95D266-0FAD-474B-AA59-36A74E607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175512"/>
              </p:ext>
            </p:extLst>
          </p:nvPr>
        </p:nvGraphicFramePr>
        <p:xfrm>
          <a:off x="8100227" y="5097396"/>
          <a:ext cx="3961747" cy="16764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59194">
                  <a:extLst>
                    <a:ext uri="{9D8B030D-6E8A-4147-A177-3AD203B41FA5}">
                      <a16:colId xmlns:a16="http://schemas.microsoft.com/office/drawing/2014/main" val="2244375681"/>
                    </a:ext>
                  </a:extLst>
                </a:gridCol>
                <a:gridCol w="1873906">
                  <a:extLst>
                    <a:ext uri="{9D8B030D-6E8A-4147-A177-3AD203B41FA5}">
                      <a16:colId xmlns:a16="http://schemas.microsoft.com/office/drawing/2014/main" val="1686177544"/>
                    </a:ext>
                  </a:extLst>
                </a:gridCol>
                <a:gridCol w="1328647">
                  <a:extLst>
                    <a:ext uri="{9D8B030D-6E8A-4147-A177-3AD203B41FA5}">
                      <a16:colId xmlns:a16="http://schemas.microsoft.com/office/drawing/2014/main" val="2988860092"/>
                    </a:ext>
                  </a:extLst>
                </a:gridCol>
              </a:tblGrid>
              <a:tr h="322151">
                <a:tc>
                  <a:txBody>
                    <a:bodyPr/>
                    <a:lstStyle/>
                    <a:p>
                      <a:r>
                        <a:rPr lang="en-US" sz="1600"/>
                        <a:t>Sr. No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Students Name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Enroll. No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65887"/>
                  </a:ext>
                </a:extLst>
              </a:tr>
              <a:tr h="322151">
                <a:tc>
                  <a:txBody>
                    <a:bodyPr/>
                    <a:lstStyle/>
                    <a:p>
                      <a:r>
                        <a:rPr lang="en-US" sz="1600"/>
                        <a:t>1)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 Kumar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251140002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942428"/>
                  </a:ext>
                </a:extLst>
              </a:tr>
              <a:tr h="322151">
                <a:tc>
                  <a:txBody>
                    <a:bodyPr/>
                    <a:lstStyle/>
                    <a:p>
                      <a:r>
                        <a:rPr lang="en-US" sz="1600"/>
                        <a:t>2)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Nikhil D. Madankar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251140014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7154"/>
                  </a:ext>
                </a:extLst>
              </a:tr>
              <a:tr h="322151">
                <a:tc>
                  <a:txBody>
                    <a:bodyPr/>
                    <a:lstStyle/>
                    <a:p>
                      <a:r>
                        <a:rPr lang="en-US" sz="1600"/>
                        <a:t>3)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Sameer Saurav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251140021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614852"/>
                  </a:ext>
                </a:extLst>
              </a:tr>
              <a:tr h="322151">
                <a:tc>
                  <a:txBody>
                    <a:bodyPr/>
                    <a:lstStyle/>
                    <a:p>
                      <a:r>
                        <a:rPr lang="en-US" sz="1600"/>
                        <a:t>4)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Subodh Singh 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B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251140024</a:t>
                      </a:r>
                      <a:endParaRPr lang="en-IN" sz="160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98173"/>
                  </a:ext>
                </a:extLst>
              </a:tr>
            </a:tbl>
          </a:graphicData>
        </a:graphic>
      </p:graphicFrame>
      <p:sp>
        <p:nvSpPr>
          <p:cNvPr id="12" name="Shape 0">
            <a:extLst>
              <a:ext uri="{FF2B5EF4-FFF2-40B4-BE49-F238E27FC236}">
                <a16:creationId xmlns:a16="http://schemas.microsoft.com/office/drawing/2014/main" id="{27421C60-F06A-4B38-B33E-BBA60F722DAF}"/>
              </a:ext>
            </a:extLst>
          </p:cNvPr>
          <p:cNvSpPr/>
          <p:nvPr/>
        </p:nvSpPr>
        <p:spPr>
          <a:xfrm>
            <a:off x="-13717" y="674383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28935-0BDA-4358-8D27-E77DFBEEB385}"/>
              </a:ext>
            </a:extLst>
          </p:cNvPr>
          <p:cNvSpPr txBox="1"/>
          <p:nvPr/>
        </p:nvSpPr>
        <p:spPr>
          <a:xfrm>
            <a:off x="130026" y="6088623"/>
            <a:ext cx="5782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 </a:t>
            </a:r>
            <a:r>
              <a:rPr lang="en-US"/>
              <a:t>: </a:t>
            </a: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Statistical Modeling for Business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Course Code : MBA652</a:t>
            </a:r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47DC1A-5DA6-8890-9541-E856DBFDC7F5}"/>
              </a:ext>
            </a:extLst>
          </p:cNvPr>
          <p:cNvSpPr/>
          <p:nvPr/>
        </p:nvSpPr>
        <p:spPr>
          <a:xfrm>
            <a:off x="9221821" y="4426085"/>
            <a:ext cx="1557966" cy="6080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Group 13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ea typeface="ADLaM Display" panose="020F0502020204030204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457200" y="1119741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Background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Variables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&amp; Outlier Removal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 Analysis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&amp; Multicollinearity (VIF)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(Backward </a:t>
            </a:r>
            <a:r>
              <a:rPr lang="en-US" sz="20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Elimination) 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&amp; Interpretation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432A608D-A6FF-45D2-9C7D-4BA152270965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93A1B7E7-9890-4D6C-B079-510948EE95CB}"/>
              </a:ext>
            </a:extLst>
          </p:cNvPr>
          <p:cNvSpPr/>
          <p:nvPr/>
        </p:nvSpPr>
        <p:spPr>
          <a:xfrm>
            <a:off x="0" y="1015946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54C671CA-3F1E-411C-84BC-6DFA14AE72BA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Background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0206" y="2331544"/>
            <a:ext cx="5159556" cy="2788918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3E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0206" y="1827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E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800"/>
          </a:p>
        </p:txBody>
      </p:sp>
      <p:sp>
        <p:nvSpPr>
          <p:cNvPr id="7" name="Text 5"/>
          <p:cNvSpPr txBox="1"/>
          <p:nvPr/>
        </p:nvSpPr>
        <p:spPr>
          <a:xfrm>
            <a:off x="661606" y="2556414"/>
            <a:ext cx="4931325" cy="203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analyze operational and environmental factors affecting NOx emissions of an industrial gas turbine, and build a multiple linear regression model to predict emission levels for environmental compliance and process optimization.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827" y="2323138"/>
            <a:ext cx="5932949" cy="2907614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114049" y="1802137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24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311650" y="2451569"/>
            <a:ext cx="5537745" cy="2907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Peak combustion flame temperatures trigger thermal NOx formation — a pollutant under strict emission ceilings.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Predicting NOx from standard sensor telemetry supports continuous compliance verification, combustion-anomaly detection, and a computational proxy when physical CEMS units are under maintenance.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NOx</a:t>
            </a: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escapes into the sky and creates smog and acid rain, Coughing . </a:t>
            </a:r>
            <a:br>
              <a:rPr lang="en-US" b="0" i="0">
                <a:effectLst/>
                <a:latin typeface="WordVisiCarriageReturn_MSFontService"/>
              </a:rPr>
            </a:br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9C3876F-2ACB-4AD9-AC48-96EE584502B7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34B8CCF-9143-4D33-9FBC-9C34C63623FB}"/>
              </a:ext>
            </a:extLst>
          </p:cNvPr>
          <p:cNvSpPr/>
          <p:nvPr/>
        </p:nvSpPr>
        <p:spPr>
          <a:xfrm>
            <a:off x="0" y="993456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7952A959-D938-4F4D-8299-F93E05ACD674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Variables</a:t>
            </a:r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217503" y="1078992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Dataset: </a:t>
            </a: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Gas Turbine CO and NOx Emission Data Set (2011-2015), UCI ML Repository
</a:t>
            </a:r>
            <a:r>
              <a:rPr lang="en-US" sz="1600" b="1">
                <a:solidFill>
                  <a:srgbClr val="3E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Source:  </a:t>
            </a: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Operating cogeneration gas turbine, north-western Turkey (SCADA logging)</a:t>
            </a:r>
            <a:b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</a:t>
            </a:r>
            <a:r>
              <a:rPr lang="en-IN" sz="1600" u="sng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heydarkaya@nku.edu.tr, ptufekci@nku.edu.tr, euzun@nku.edu.tr</a:t>
            </a:r>
            <a:r>
              <a:rPr lang="en-IN" sz="1600"/>
              <a:t> </a:t>
            </a: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>
                <a:solidFill>
                  <a:srgbClr val="3E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Sample: </a:t>
            </a: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36,733 hourly records → 35,347 after z-score outlier removal (|z| ≤ 3)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364592"/>
              </p:ext>
            </p:extLst>
          </p:nvPr>
        </p:nvGraphicFramePr>
        <p:xfrm>
          <a:off x="457200" y="2308904"/>
          <a:ext cx="11064240" cy="39319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Variable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Unit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NOx (Y)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Nitrogen oxides emissions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mg/m³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AT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Ambient temperature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°C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AP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Ambient pressure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mbar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AH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Ambient relative humidity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AFDP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Air filter differential pressure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mbar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GTEP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Gas turbine exhaust pressure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mbar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TIT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Turbine inlet temperature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°C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TAT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Turbine after temperature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°C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TEY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Turbine energy yield (power output)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MWh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CDP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Compressor discharge pressure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mbar</a:t>
                      </a:r>
                      <a:endParaRPr lang="en-US" sz="160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1">
            <a:extLst>
              <a:ext uri="{FF2B5EF4-FFF2-40B4-BE49-F238E27FC236}">
                <a16:creationId xmlns:a16="http://schemas.microsoft.com/office/drawing/2014/main" id="{3B416D75-401B-4035-9472-1374BEEBE3A8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B91B9B36-F405-444B-83B4-70DF3C69B489}"/>
              </a:ext>
            </a:extLst>
          </p:cNvPr>
          <p:cNvSpPr/>
          <p:nvPr/>
        </p:nvSpPr>
        <p:spPr>
          <a:xfrm>
            <a:off x="3048" y="980332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ACCEE3AE-CD8F-4BD6-9654-D6CEB7599D99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46222" y="27432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Industrial Gas Turbine Components</a:t>
            </a:r>
            <a:endParaRPr lang="en-US" sz="2800"/>
          </a:p>
        </p:txBody>
      </p:sp>
      <p:sp>
        <p:nvSpPr>
          <p:cNvPr id="8" name="Shape 6"/>
          <p:cNvSpPr/>
          <p:nvPr/>
        </p:nvSpPr>
        <p:spPr>
          <a:xfrm>
            <a:off x="1104963" y="1257760"/>
            <a:ext cx="9823509" cy="500503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9C3876F-2ACB-4AD9-AC48-96EE584502B7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34B8CCF-9143-4D33-9FBC-9C34C63623FB}"/>
              </a:ext>
            </a:extLst>
          </p:cNvPr>
          <p:cNvSpPr/>
          <p:nvPr/>
        </p:nvSpPr>
        <p:spPr>
          <a:xfrm>
            <a:off x="0" y="993456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7952A959-D938-4F4D-8299-F93E05ACD674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4ADE44-7FA9-407D-A82C-A5CF8C7ED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59" y="1363348"/>
            <a:ext cx="9492716" cy="47463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C55B3C-AE22-44F5-A381-8A5B266A3558}"/>
              </a:ext>
            </a:extLst>
          </p:cNvPr>
          <p:cNvSpPr txBox="1"/>
          <p:nvPr/>
        </p:nvSpPr>
        <p:spPr>
          <a:xfrm>
            <a:off x="246222" y="6280196"/>
            <a:ext cx="3860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AI Generated Picture for Better Understanding of Variables 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93072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440112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280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03EA148-4C91-4BB9-AD28-A546A10A9950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C44C342-EE97-4042-ADA9-21E79BCA9B9A}"/>
              </a:ext>
            </a:extLst>
          </p:cNvPr>
          <p:cNvSpPr/>
          <p:nvPr/>
        </p:nvSpPr>
        <p:spPr>
          <a:xfrm>
            <a:off x="-13716" y="990423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902D72B7-368E-4E9E-9AA1-5032ED70436B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15BA0A-1591-E591-D1BE-E06FE10DB96B}"/>
              </a:ext>
            </a:extLst>
          </p:cNvPr>
          <p:cNvGrpSpPr/>
          <p:nvPr/>
        </p:nvGrpSpPr>
        <p:grpSpPr>
          <a:xfrm>
            <a:off x="105746" y="1823639"/>
            <a:ext cx="11980508" cy="3736652"/>
            <a:chOff x="194728" y="1823639"/>
            <a:chExt cx="11980508" cy="373665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AAEADAE-2D97-C16C-683E-C397D5616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440"/>
            <a:stretch>
              <a:fillRect/>
            </a:stretch>
          </p:blipFill>
          <p:spPr>
            <a:xfrm>
              <a:off x="5839451" y="1823639"/>
              <a:ext cx="6335785" cy="373665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6350" cap="sq">
              <a:solidFill>
                <a:schemeClr val="tx1">
                  <a:lumMod val="65000"/>
                  <a:lumOff val="35000"/>
                </a:schemeClr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C6DEF11-832C-501E-1678-C2A5AECC2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6859"/>
            <a:stretch>
              <a:fillRect/>
            </a:stretch>
          </p:blipFill>
          <p:spPr>
            <a:xfrm>
              <a:off x="194728" y="1823639"/>
              <a:ext cx="5551194" cy="373665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6350" cap="sq">
              <a:solidFill>
                <a:schemeClr val="tx1">
                  <a:lumMod val="65000"/>
                  <a:lumOff val="35000"/>
                </a:schemeClr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4552C-E05F-FEB2-B8C5-698633E9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C55402-2DB2-BFC9-0601-38A932404B82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1BBA283-E55C-6C44-8AC2-0F2CFDFA606A}"/>
              </a:ext>
            </a:extLst>
          </p:cNvPr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AB3A01-4D40-38AB-F1CF-400B0298359B}"/>
              </a:ext>
            </a:extLst>
          </p:cNvPr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&amp; Outlier Removal</a:t>
            </a:r>
            <a:endParaRPr lang="en-US" sz="2800"/>
          </a:p>
        </p:txBody>
      </p:sp>
      <p:pic>
        <p:nvPicPr>
          <p:cNvPr id="5" name="Image 0" descr="assets/boxplots.png">
            <a:extLst>
              <a:ext uri="{FF2B5EF4-FFF2-40B4-BE49-F238E27FC236}">
                <a16:creationId xmlns:a16="http://schemas.microsoft.com/office/drawing/2014/main" id="{D5F1D26D-F25F-D101-6A66-BFEB505E6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25" y="1177652"/>
            <a:ext cx="6309360" cy="525780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5DD892F-02A9-350A-BBFF-0207216E0FE6}"/>
              </a:ext>
            </a:extLst>
          </p:cNvPr>
          <p:cNvSpPr txBox="1"/>
          <p:nvPr/>
        </p:nvSpPr>
        <p:spPr>
          <a:xfrm>
            <a:off x="6777508" y="1238258"/>
            <a:ext cx="5414492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Method: 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Standardized z-score, observation dropped if any of 10 variables had |z| &gt; 3
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before: 36,733   →  N removed: 1,386   →  N after: 35,347
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NOx std dev falls from 11.68 to 10.43 without materially shifting the mean (65.3 → 64.55).
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 and TAT cluster near their upper limits — turbine spends most of its time near full-load operating temperatures.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061DF8-1CB0-E4F9-D57C-7DD6D8B80B06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F1A9A7B-575E-2F0E-4163-872A7A96E7EA}"/>
              </a:ext>
            </a:extLst>
          </p:cNvPr>
          <p:cNvSpPr/>
          <p:nvPr/>
        </p:nvSpPr>
        <p:spPr>
          <a:xfrm>
            <a:off x="-13716" y="990423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62EDE629-E60C-363D-F824-EA5DAB30DB71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17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Scatterplot Analysis</a:t>
            </a:r>
            <a:endParaRPr lang="en-US" sz="2800"/>
          </a:p>
        </p:txBody>
      </p:sp>
      <p:pic>
        <p:nvPicPr>
          <p:cNvPr id="5" name="Image 0" descr="assets/scatter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10" y="1182697"/>
            <a:ext cx="8412480" cy="52578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94337030-146C-46EF-920E-391147EE7C85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CA1BA88-F519-472D-A3A7-593F231ED91D}"/>
              </a:ext>
            </a:extLst>
          </p:cNvPr>
          <p:cNvSpPr/>
          <p:nvPr/>
        </p:nvSpPr>
        <p:spPr>
          <a:xfrm>
            <a:off x="-13716" y="9655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2B9BD81E-C7E6-45FA-865F-2700EDE1A4B8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AFDF6-99EC-40B1-A2D2-E78D93636019}"/>
              </a:ext>
            </a:extLst>
          </p:cNvPr>
          <p:cNvSpPr txBox="1"/>
          <p:nvPr/>
        </p:nvSpPr>
        <p:spPr>
          <a:xfrm>
            <a:off x="8716505" y="4718459"/>
            <a:ext cx="35484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Why the NOx emission decreases with increase in AT ?</a:t>
            </a:r>
            <a:br>
              <a:rPr lang="en-US" sz="1200"/>
            </a:br>
            <a:r>
              <a:rPr lang="en-US" sz="1200"/>
              <a:t> </a:t>
            </a:r>
            <a:br>
              <a:rPr lang="en-US" sz="1200"/>
            </a:br>
            <a:r>
              <a:rPr lang="en-US" sz="1200"/>
              <a:t>When the </a:t>
            </a:r>
            <a:r>
              <a:rPr lang="en-US" sz="1200" b="1"/>
              <a:t>outside air becomes hotter </a:t>
            </a:r>
            <a:r>
              <a:rPr lang="en-US" sz="1200"/>
              <a:t>. Hot air is less dense. That changes the amount of air the compressor can ingest for a given operating condition and affects turbine performance, load, air–fuel ratio, compressor operation, etc.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766FB-3E77-48F3-91C8-C897928A45EA}"/>
              </a:ext>
            </a:extLst>
          </p:cNvPr>
          <p:cNvSpPr txBox="1"/>
          <p:nvPr/>
        </p:nvSpPr>
        <p:spPr>
          <a:xfrm>
            <a:off x="8716505" y="1237944"/>
            <a:ext cx="33458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NOx and Ambient temperature (AT) has strongly negative relation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NOx vs Ambient Pressure (AP) Relationship: Weak positive </a:t>
            </a:r>
            <a:br>
              <a:rPr lang="en-IN" sz="1600"/>
            </a:br>
            <a:endParaRPr lang="en-I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NOx vs Ambient Humidity (AH) Relationship: Weak positive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TIT and TEY doesn't show a strong linear relationship with NOx </a:t>
            </a:r>
            <a:endParaRPr lang="en-I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</a:t>
            </a:r>
            <a:endParaRPr lang="en-US" sz="2800"/>
          </a:p>
        </p:txBody>
      </p:sp>
      <p:pic>
        <p:nvPicPr>
          <p:cNvPr id="5" name="Image 0" descr="assets/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199632" cy="516636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6" name="Text 3"/>
          <p:cNvSpPr txBox="1"/>
          <p:nvPr/>
        </p:nvSpPr>
        <p:spPr>
          <a:xfrm>
            <a:off x="7115822" y="4312485"/>
            <a:ext cx="4588498" cy="767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r>
              <a:rPr lang="en-US" sz="14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preliminary evidence of severe multicollinearity — confirmed formally via VIF (</a:t>
            </a:r>
            <a:r>
              <a:rPr lang="en-IN" sz="1400"/>
              <a:t>Variance Inflation Factor)</a:t>
            </a:r>
            <a:endParaRPr lang="en-US" sz="140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912BA54-99DB-4C4D-ABFC-B2F6B79149C8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AFC024D-70A3-4641-B758-7039A0024A48}"/>
              </a:ext>
            </a:extLst>
          </p:cNvPr>
          <p:cNvSpPr/>
          <p:nvPr/>
        </p:nvSpPr>
        <p:spPr>
          <a:xfrm>
            <a:off x="3048" y="959380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EB23228C-76FE-4D1B-AC88-5F3EC4F46106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B16A29-3DBC-4E5C-B379-23ED9CBFE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118500"/>
              </p:ext>
            </p:extLst>
          </p:nvPr>
        </p:nvGraphicFramePr>
        <p:xfrm>
          <a:off x="7231308" y="1698921"/>
          <a:ext cx="2575421" cy="2312649"/>
        </p:xfrm>
        <a:graphic>
          <a:graphicData uri="http://schemas.openxmlformats.org/drawingml/2006/table">
            <a:tbl>
              <a:tblPr/>
              <a:tblGrid>
                <a:gridCol w="1441120">
                  <a:extLst>
                    <a:ext uri="{9D8B030D-6E8A-4147-A177-3AD203B41FA5}">
                      <a16:colId xmlns:a16="http://schemas.microsoft.com/office/drawing/2014/main" val="1451954151"/>
                    </a:ext>
                  </a:extLst>
                </a:gridCol>
                <a:gridCol w="1134301">
                  <a:extLst>
                    <a:ext uri="{9D8B030D-6E8A-4147-A177-3AD203B41FA5}">
                      <a16:colId xmlns:a16="http://schemas.microsoft.com/office/drawing/2014/main" val="1669987456"/>
                    </a:ext>
                  </a:extLst>
                </a:gridCol>
              </a:tblGrid>
              <a:tr h="2569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Pair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Correlation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743984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GTEP – TIT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541424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GTEP – TEY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851008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GTEP – CDP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181167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TIT – TEY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656441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TIT – CDP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604750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TEY – CDP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0.99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64807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TAT – TEY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−0.72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008524"/>
                  </a:ext>
                </a:extLst>
              </a:tr>
              <a:tr h="2569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TAT – CDP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1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−0.74</a:t>
                      </a:r>
                      <a:r>
                        <a:rPr lang="en-GB" sz="1200" b="0" i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GB" sz="2000" b="0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8364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(9 Predictors) &amp; Multicollinearity</a:t>
            </a:r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457200" y="170056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0.551   Adj. R² = 0.546   , p &lt; 0.001</a:t>
            </a:r>
            <a:endParaRPr lang="en-US" sz="14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399280"/>
              </p:ext>
            </p:extLst>
          </p:nvPr>
        </p:nvGraphicFramePr>
        <p:xfrm>
          <a:off x="457200" y="2129531"/>
          <a:ext cx="6127320" cy="4277560"/>
        </p:xfrm>
        <a:graphic>
          <a:graphicData uri="http://schemas.openxmlformats.org/drawingml/2006/table">
            <a:tbl>
              <a:tblPr/>
              <a:tblGrid>
                <a:gridCol w="153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-1.671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-0.225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AFDP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GTEP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B0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1.418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B0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-1.348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TEY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-1.571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B0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246.6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-6.419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B0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238.1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1">
            <a:extLst>
              <a:ext uri="{FF2B5EF4-FFF2-40B4-BE49-F238E27FC236}">
                <a16:creationId xmlns:a16="http://schemas.microsoft.com/office/drawing/2014/main" id="{FF86CA7C-AA1C-4E9D-BFFA-8BC36BA00CE7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BBF33F35-0348-496F-A729-1BAF1777472F}"/>
              </a:ext>
            </a:extLst>
          </p:cNvPr>
          <p:cNvSpPr/>
          <p:nvPr/>
        </p:nvSpPr>
        <p:spPr>
          <a:xfrm>
            <a:off x="3048" y="951879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BEDE173-1204-4FD2-B30C-D391ACA307A3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E6283-AE70-4A5A-9C8E-F8B8A7DD52A1}"/>
              </a:ext>
            </a:extLst>
          </p:cNvPr>
          <p:cNvSpPr txBox="1"/>
          <p:nvPr/>
        </p:nvSpPr>
        <p:spPr>
          <a:xfrm>
            <a:off x="118371" y="1210119"/>
            <a:ext cx="12378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mbria Math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1 </a:t>
            </a:r>
            <a:r>
              <a:rPr lang="en-US" sz="1800">
                <a:effectLst/>
                <a:highlight>
                  <a:srgbClr val="E7E6E6"/>
                </a:highlight>
                <a:latin typeface="Cambria Math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 NOx = β₀ + β₁AT + β₂AP + β₃AH + β₄AFDP + β₅GTEP + β₆TIT + β₇TAT + β₈TEY + β₉CDP + ε</a:t>
            </a:r>
            <a:br>
              <a:rPr lang="en-US" sz="1800">
                <a:effectLst/>
                <a:highlight>
                  <a:srgbClr val="E7E6E6"/>
                </a:highlight>
                <a:latin typeface="Cambria Math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52F03-FD60-4DD2-8F2E-E4A4E3E9CCD5}"/>
              </a:ext>
            </a:extLst>
          </p:cNvPr>
          <p:cNvSpPr txBox="1"/>
          <p:nvPr/>
        </p:nvSpPr>
        <p:spPr>
          <a:xfrm>
            <a:off x="6916251" y="2668533"/>
            <a:ext cx="527574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full model explains about </a:t>
            </a:r>
            <a:r>
              <a:rPr lang="en-US" sz="1600" b="1"/>
              <a:t>55.1% of the variation in NOx emissions</a:t>
            </a:r>
            <a:br>
              <a:rPr lang="en-US" sz="1600" b="1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However, </a:t>
            </a:r>
            <a:r>
              <a:rPr lang="en-US" sz="1600" b="1"/>
              <a:t>severe multicollinearity</a:t>
            </a:r>
            <a:r>
              <a:rPr lang="en-US" sz="1600"/>
              <a:t> exists among turbine-load variables, especially </a:t>
            </a:r>
            <a:r>
              <a:rPr lang="en-US" sz="1600" b="1"/>
              <a:t>TEY (VIF 246.6) and CDP (VIF 238.1) </a:t>
            </a:r>
            <a:r>
              <a:rPr lang="en-US" sz="16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essentially redundant </a:t>
            </a:r>
            <a:r>
              <a:rPr lang="en-US" sz="1600"/>
              <a:t>, while </a:t>
            </a:r>
            <a:r>
              <a:rPr lang="en-US" sz="1600" b="1"/>
              <a:t>GTEP is insignificant (p = 0.094)</a:t>
            </a:r>
            <a:br>
              <a:rPr lang="en-US" sz="1600" b="1"/>
            </a:br>
            <a:endParaRPr 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0">
                <a:solidFill>
                  <a:srgbClr val="000000"/>
                </a:solidFill>
                <a:effectLst/>
                <a:latin typeface="WordVisi_MSFontService"/>
              </a:rPr>
              <a:t>A VIF above 10 is commonly considered an indication of serious multicollinearity</a:t>
            </a:r>
            <a:br>
              <a:rPr lang="en-US" sz="1600" b="1"/>
            </a:br>
            <a:endParaRPr lang="en-IN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6458D-55DB-ED57-F340-34BD45B4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2B6BB6-DDD4-F3E2-22FD-0B6E5586BAB9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D3BDA8-214F-83D0-A516-B9BD9C58B866}"/>
              </a:ext>
            </a:extLst>
          </p:cNvPr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DF9855-DE43-7AD5-E2DA-3A8F990082C1}"/>
              </a:ext>
            </a:extLst>
          </p:cNvPr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(Backward Elimination) </a:t>
            </a:r>
            <a:endParaRPr lang="en-US" sz="28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A0648C2-02B1-D78A-789C-3124D7A7694C}"/>
              </a:ext>
            </a:extLst>
          </p:cNvPr>
          <p:cNvSpPr/>
          <p:nvPr/>
        </p:nvSpPr>
        <p:spPr>
          <a:xfrm>
            <a:off x="457200" y="5699545"/>
            <a:ext cx="11064239" cy="764256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4FA0D52-C283-A5B4-DFD7-538FBEDE1D3B}"/>
              </a:ext>
            </a:extLst>
          </p:cNvPr>
          <p:cNvSpPr txBox="1"/>
          <p:nvPr/>
        </p:nvSpPr>
        <p:spPr>
          <a:xfrm>
            <a:off x="558800" y="5747233"/>
            <a:ext cx="10515600" cy="716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is retained as final: </a:t>
            </a:r>
          </a:p>
          <a:p>
            <a:r>
              <a:rPr lang="en-US" sz="1600" b="1" dirty="0"/>
              <a:t>- TEY, CDP and GTEP were removed</a:t>
            </a:r>
            <a:r>
              <a:rPr lang="en-US" sz="1600" dirty="0"/>
              <a:t> due to high multicollinearity and/or insignificance. </a:t>
            </a:r>
          </a:p>
          <a:p>
            <a:r>
              <a:rPr lang="en-US" sz="1600" b="1" dirty="0"/>
              <a:t>-</a:t>
            </a:r>
            <a:r>
              <a:rPr lang="en-US" sz="1600" dirty="0"/>
              <a:t> After removing them, </a:t>
            </a:r>
            <a:r>
              <a:rPr lang="en-US" sz="1600" b="1" dirty="0"/>
              <a:t>all VIF values fell below 2.4</a:t>
            </a:r>
            <a:r>
              <a:rPr lang="en-US" sz="1600" dirty="0"/>
              <a:t>, indicating no serious multicollinearity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28A2965E-49BE-BB07-08E2-7E97F589E082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5073089C-C2D6-927A-656B-37993B245F30}"/>
              </a:ext>
            </a:extLst>
          </p:cNvPr>
          <p:cNvSpPr/>
          <p:nvPr/>
        </p:nvSpPr>
        <p:spPr>
          <a:xfrm>
            <a:off x="-13716" y="980332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18C1EE2B-9F42-A1BA-EDDB-D7345974AD32}"/>
              </a:ext>
            </a:extLst>
          </p:cNvPr>
          <p:cNvSpPr/>
          <p:nvPr/>
        </p:nvSpPr>
        <p:spPr>
          <a:xfrm>
            <a:off x="0" y="6557195"/>
            <a:ext cx="12188952" cy="1361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A8B4393A-5E39-0934-E7E8-363A3F8F3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018121"/>
              </p:ext>
            </p:extLst>
          </p:nvPr>
        </p:nvGraphicFramePr>
        <p:xfrm>
          <a:off x="301841" y="1225410"/>
          <a:ext cx="11219598" cy="2727382"/>
        </p:xfrm>
        <a:graphic>
          <a:graphicData uri="http://schemas.openxmlformats.org/drawingml/2006/table">
            <a:tbl>
              <a:tblPr/>
              <a:tblGrid>
                <a:gridCol w="1298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3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4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3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Included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Adj. R²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9 predictors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baseline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0.546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(drop TEY)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Severe Collinearity </a:t>
                      </a:r>
                      <a:br>
                        <a:rPr lang="en-US" sz="14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VIF = 246.6 )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0.5308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0.5303 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8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(drop CDP)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Severe Collinearity </a:t>
                      </a:r>
                      <a:br>
                        <a:rPr lang="en-IN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</a:br>
                      <a:r>
                        <a:rPr lang="en-IN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 </a:t>
                      </a:r>
                      <a:r>
                        <a:rPr lang="en-US" sz="11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 = 87.2 )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0.3709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0.3708</a:t>
                      </a:r>
                      <a:endParaRPr 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9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(drop GTEP)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GTEP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Insignificant </a:t>
                      </a:r>
                      <a:br>
                        <a:rPr lang="en-IN" sz="1800"/>
                      </a:br>
                      <a:r>
                        <a:rPr lang="en-IN" sz="1100"/>
                        <a:t>( </a:t>
                      </a:r>
                      <a:r>
                        <a:rPr lang="en-US" sz="11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0.094 &amp; VIF = 13.2 )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0.3708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0.3707 </a:t>
                      </a:r>
                      <a:endParaRPr lang="en-US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DFE27F5A-47F5-F8DD-E62F-4DEF9CAA1846}"/>
              </a:ext>
            </a:extLst>
          </p:cNvPr>
          <p:cNvGrpSpPr/>
          <p:nvPr/>
        </p:nvGrpSpPr>
        <p:grpSpPr>
          <a:xfrm>
            <a:off x="301841" y="4071778"/>
            <a:ext cx="11646310" cy="1525546"/>
            <a:chOff x="231056" y="4000481"/>
            <a:chExt cx="11646310" cy="152554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CADDF2-D1FC-FD17-9D7C-08F9BDCD111B}"/>
                </a:ext>
              </a:extLst>
            </p:cNvPr>
            <p:cNvSpPr txBox="1"/>
            <p:nvPr/>
          </p:nvSpPr>
          <p:spPr>
            <a:xfrm>
              <a:off x="231056" y="4000481"/>
              <a:ext cx="116463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NOx= −176.13−1.67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−0.225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−0.214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AH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+0.908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AFDP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+0.082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GTEP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+1.418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−1.348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−1.571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TEY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−6.419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CDP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E8C454-9341-F372-ACD4-475AFAC2AA51}"/>
                </a:ext>
              </a:extLst>
            </p:cNvPr>
            <p:cNvSpPr txBox="1"/>
            <p:nvPr/>
          </p:nvSpPr>
          <p:spPr>
            <a:xfrm>
              <a:off x="231056" y="4385886"/>
              <a:ext cx="109777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NOx= 51.501−1.158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−0.136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−0.209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AH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+1.186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AFDP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−0.342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GTEP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+1.167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−1.429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−23.995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5C804D-B3A1-F947-5F12-6ADA2C2BC4F6}"/>
                </a:ext>
              </a:extLst>
            </p:cNvPr>
            <p:cNvSpPr txBox="1"/>
            <p:nvPr/>
          </p:nvSpPr>
          <p:spPr>
            <a:xfrm>
              <a:off x="231056" y="4771291"/>
              <a:ext cx="9699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NOx= 173.252−1.118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−0.224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−0.214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AH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+1.258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AFDP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−2.835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GTEP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+0.464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−0.511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56EECA-D716-5002-B824-C305101B69BE}"/>
                </a:ext>
              </a:extLst>
            </p:cNvPr>
            <p:cNvSpPr txBox="1"/>
            <p:nvPr/>
          </p:nvSpPr>
          <p:spPr>
            <a:xfrm>
              <a:off x="231056" y="5156695"/>
              <a:ext cx="88539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NOx= 90.089−1.120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−0.146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−0.155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AH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+1.861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AFDP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−0.013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+0.295</a:t>
              </a:r>
              <a:r>
                <a: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381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&amp; Interpretation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985421" y="1280160"/>
            <a:ext cx="9667784" cy="749808"/>
          </a:xfrm>
          <a:prstGeom prst="round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85421" y="1289304"/>
            <a:ext cx="9397014" cy="797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NOx = 90.09 − 1.12·AT − 0.146·AP − 0.155·AH + 1.861·AFDP − 0.013·TIT + 0.295·TAT</a:t>
            </a:r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0.3708   Adj. R² = 0.3707   , p &lt; 0.001   |   All VIF &lt; 2.4 (no multicollinearity)</a:t>
            </a:r>
            <a:endParaRPr lang="en-US" sz="1600" b="1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CFC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(−1.12)</a:t>
            </a:r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2281561" y="2697480"/>
            <a:ext cx="9148439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Higher</a:t>
            </a:r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 ambient temperature is associated with lower NOx emissions.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CFC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6576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(−0.15)</a:t>
            </a:r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2281561" y="3657600"/>
            <a:ext cx="914843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dilutes combustion, lowering peak flame temperature — suppresses NOx.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CFC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AFDP (+1.86)</a:t>
            </a:r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2281561" y="4617720"/>
            <a:ext cx="9148439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Largest-magnitude effect. </a:t>
            </a:r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Higher air-filter pressure is associated with higher NOx emissions.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CFC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557784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(+0.30)</a:t>
            </a:r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2281561" y="5577840"/>
            <a:ext cx="914843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Hotter exhaust-side temperature, holding inlet fixed, indexes a hotter combustion cycle.</a:t>
            </a:r>
            <a:endParaRPr lang="en-US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3586339-ADEB-47BA-9A78-E03786EA67A0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A77956AD-B726-45F8-8A2A-31D63CFBB197}"/>
              </a:ext>
            </a:extLst>
          </p:cNvPr>
          <p:cNvSpPr/>
          <p:nvPr/>
        </p:nvSpPr>
        <p:spPr>
          <a:xfrm>
            <a:off x="3048" y="1015961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F4D2B27B-74D9-43B6-8612-4C6086766DEA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7B962-A49D-F3B3-6959-E92B195EF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15D212-65DF-98AB-0F01-DDE68CA221C4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93D8C2-9340-4CD7-6E63-A332E8A10E32}"/>
              </a:ext>
            </a:extLst>
          </p:cNvPr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FAE52C-A523-F463-7657-DBEEF9CAF26D}"/>
              </a:ext>
            </a:extLst>
          </p:cNvPr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Implications &amp; Practical Applications for Regulators (India)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8B3678F4-8EC4-AE23-B4FE-F3888B251483}"/>
                  </a:ext>
                </a:extLst>
              </p:cNvPr>
              <p:cNvSpPr/>
              <p:nvPr/>
            </p:nvSpPr>
            <p:spPr>
              <a:xfrm>
                <a:off x="1160519" y="1852619"/>
                <a:ext cx="9667784" cy="1550589"/>
              </a:xfrm>
              <a:prstGeom prst="roundRect">
                <a:avLst/>
              </a:prstGeom>
              <a:solidFill>
                <a:srgbClr val="2B2E2E"/>
              </a:solidFill>
              <a:ln/>
            </p:spPr>
            <p:txBody>
              <a:bodyPr/>
              <a:lstStyle/>
              <a:p>
                <a:pPr lvl="0" algn="just"/>
                <a:r>
                  <a:rPr lang="en-US" b="1" dirty="0">
                    <a:solidFill>
                      <a:schemeClr val="bg1"/>
                    </a:solidFill>
                  </a:rPr>
                  <a:t>Localized Microclimate Mitigation &amp; Urban Greening: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pPr lvl="1" algn="just"/>
                <a:r>
                  <a:rPr lang="en-US" dirty="0">
                    <a:solidFill>
                      <a:schemeClr val="bg1"/>
                    </a:solidFill>
                  </a:rPr>
                  <a:t>Since ambient temperature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solidFill>
                          <a:schemeClr val="bg1"/>
                        </a:solidFill>
                      </a:rPr>
                      <m:t>AT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 heavily influences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emissions and thermal dynamics, mandatory green-belt policies and urban forestry around industrial clusters should be implemented to mitigate the Urban Heat Island (UHI) effect. </a:t>
                </a:r>
              </a:p>
              <a:p>
                <a:pPr algn="just"/>
                <a:endParaRPr lang="en-US" sz="1600" dirty="0"/>
              </a:p>
            </p:txBody>
          </p:sp>
        </mc:Choice>
        <mc:Fallback xmlns=""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8B3678F4-8EC4-AE23-B4FE-F3888B251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19" y="1852619"/>
                <a:ext cx="9667784" cy="155058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">
            <a:extLst>
              <a:ext uri="{FF2B5EF4-FFF2-40B4-BE49-F238E27FC236}">
                <a16:creationId xmlns:a16="http://schemas.microsoft.com/office/drawing/2014/main" id="{50BC0A4A-D0BF-2C7A-C86A-7485CE39FB01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4AFB8156-66AE-B180-B341-E5EA50F39765}"/>
              </a:ext>
            </a:extLst>
          </p:cNvPr>
          <p:cNvSpPr/>
          <p:nvPr/>
        </p:nvSpPr>
        <p:spPr>
          <a:xfrm>
            <a:off x="3048" y="1015961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CDA4E33F-EB14-85A5-78A4-045638A9363E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7E97F5E2-8C86-2830-3DA4-04FC694E817E}"/>
              </a:ext>
            </a:extLst>
          </p:cNvPr>
          <p:cNvSpPr/>
          <p:nvPr/>
        </p:nvSpPr>
        <p:spPr>
          <a:xfrm>
            <a:off x="1160519" y="4094841"/>
            <a:ext cx="9667784" cy="1550589"/>
          </a:xfrm>
          <a:prstGeom prst="roundRect">
            <a:avLst/>
          </a:prstGeom>
          <a:solidFill>
            <a:srgbClr val="2B2E2E"/>
          </a:solidFill>
          <a:ln/>
        </p:spPr>
        <p:txBody>
          <a:bodyPr/>
          <a:lstStyle/>
          <a:p>
            <a:pPr lvl="0" algn="just"/>
            <a:r>
              <a:rPr lang="en-US" b="1" dirty="0">
                <a:solidFill>
                  <a:schemeClr val="bg1"/>
                </a:solidFill>
              </a:rPr>
              <a:t>Dynamic Environmental Compliance &amp; Temperature-Based Standards:</a:t>
            </a:r>
            <a:endParaRPr lang="en-US" dirty="0">
              <a:solidFill>
                <a:schemeClr val="bg1"/>
              </a:solidFill>
            </a:endParaRPr>
          </a:p>
          <a:p>
            <a:pPr lvl="1" algn="just"/>
            <a:r>
              <a:rPr lang="en-US" dirty="0">
                <a:solidFill>
                  <a:schemeClr val="bg1"/>
                </a:solidFill>
              </a:rPr>
              <a:t>Environmental regulators should consider shifting from static emission norms to dynamic standards that account for seasonal ambient temperature fluctuations, which alter thermal efficiency and emission behaviors. </a:t>
            </a:r>
          </a:p>
        </p:txBody>
      </p:sp>
    </p:spTree>
    <p:extLst>
      <p:ext uri="{BB962C8B-B14F-4D97-AF65-F5344CB8AC3E}">
        <p14:creationId xmlns:p14="http://schemas.microsoft.com/office/powerpoint/2010/main" val="270234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Conclusion</a:t>
            </a:r>
            <a:endParaRPr lang="en-US" sz="28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3F12DBD-6D74-4B81-AA59-F6B0816B02C8}"/>
              </a:ext>
            </a:extLst>
          </p:cNvPr>
          <p:cNvSpPr/>
          <p:nvPr/>
        </p:nvSpPr>
        <p:spPr>
          <a:xfrm>
            <a:off x="3048" y="9974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9B13204-15F3-40D4-9CFC-2FC29B18FF98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2CD115D2-E4BE-4D94-AD1E-D23BECC69223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18E2927B-3E2F-45E6-A8F5-36356B4DBE0F}"/>
              </a:ext>
            </a:extLst>
          </p:cNvPr>
          <p:cNvSpPr/>
          <p:nvPr/>
        </p:nvSpPr>
        <p:spPr>
          <a:xfrm>
            <a:off x="548640" y="1498637"/>
            <a:ext cx="384048" cy="384048"/>
          </a:xfrm>
          <a:prstGeom prst="ellipse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06AB564-54D8-431E-A5E5-24E4D63EBED6}"/>
              </a:ext>
            </a:extLst>
          </p:cNvPr>
          <p:cNvSpPr txBox="1"/>
          <p:nvPr/>
        </p:nvSpPr>
        <p:spPr>
          <a:xfrm>
            <a:off x="548640" y="14986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3293D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B75C120D-1C41-4EC1-91C9-2AAB180DFC90}"/>
              </a:ext>
            </a:extLst>
          </p:cNvPr>
          <p:cNvSpPr txBox="1"/>
          <p:nvPr/>
        </p:nvSpPr>
        <p:spPr>
          <a:xfrm>
            <a:off x="1097280" y="1366539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 pitchFamily="34" charset="-122"/>
                <a:cs typeface="Times New Roman" panose="02020603050405020304" pitchFamily="18" charset="0"/>
              </a:rPr>
              <a:t>Ambient temperature (AT) is the strong predictor of NOx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Times New Roman" panose="02020603050405020304" pitchFamily="18" charset="0"/>
              </a:rPr>
              <a:t>and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 pitchFamily="34" charset="-122"/>
                <a:cs typeface="Times New Roman" panose="02020603050405020304" pitchFamily="18" charset="0"/>
              </a:rPr>
              <a:t> explaining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Times New Roman" panose="02020603050405020304" pitchFamily="18" charset="0"/>
              </a:rPr>
              <a:t>large 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 pitchFamily="34" charset="-122"/>
                <a:cs typeface="Times New Roman" panose="02020603050405020304" pitchFamily="18" charset="0"/>
              </a:rPr>
              <a:t>of its variance.</a:t>
            </a:r>
            <a:endParaRPr kumimoji="0" lang="en-US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70D87D50-B832-44FA-8425-99788E1014D2}"/>
              </a:ext>
            </a:extLst>
          </p:cNvPr>
          <p:cNvSpPr/>
          <p:nvPr/>
        </p:nvSpPr>
        <p:spPr>
          <a:xfrm>
            <a:off x="548640" y="2394749"/>
            <a:ext cx="384048" cy="384048"/>
          </a:xfrm>
          <a:prstGeom prst="ellipse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711D52A-79E9-430E-BFA5-4D244801E84F}"/>
              </a:ext>
            </a:extLst>
          </p:cNvPr>
          <p:cNvSpPr txBox="1"/>
          <p:nvPr/>
        </p:nvSpPr>
        <p:spPr>
          <a:xfrm>
            <a:off x="548640" y="23947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3293D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9FBAA990-8EB5-48C3-8306-5283A0FDA7B9}"/>
              </a:ext>
            </a:extLst>
          </p:cNvPr>
          <p:cNvSpPr txBox="1"/>
          <p:nvPr/>
        </p:nvSpPr>
        <p:spPr>
          <a:xfrm>
            <a:off x="1097280" y="232990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The turbine “load” process variables (GTEP, TIT, TAT, TEY, CDP) are severely inter-correlated (|r| up to 0.99); dropping TEY, CDP and GTEP resolves it.</a:t>
            </a:r>
            <a:endParaRPr kumimoji="0" lang="en-US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6B054682-4EAE-4CC3-9641-0119F0561F1B}"/>
              </a:ext>
            </a:extLst>
          </p:cNvPr>
          <p:cNvSpPr/>
          <p:nvPr/>
        </p:nvSpPr>
        <p:spPr>
          <a:xfrm>
            <a:off x="531151" y="3400329"/>
            <a:ext cx="384048" cy="384048"/>
          </a:xfrm>
          <a:prstGeom prst="ellipse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66E1695-432D-4B56-A5B6-20956F6473B3}"/>
              </a:ext>
            </a:extLst>
          </p:cNvPr>
          <p:cNvSpPr txBox="1"/>
          <p:nvPr/>
        </p:nvSpPr>
        <p:spPr>
          <a:xfrm>
            <a:off x="531151" y="34003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3293D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A9D079BB-13F1-4E9A-8402-0619F0D0C394}"/>
              </a:ext>
            </a:extLst>
          </p:cNvPr>
          <p:cNvSpPr/>
          <p:nvPr/>
        </p:nvSpPr>
        <p:spPr>
          <a:xfrm>
            <a:off x="536211" y="4387163"/>
            <a:ext cx="384048" cy="384048"/>
          </a:xfrm>
          <a:prstGeom prst="ellipse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2B383408-340B-46A7-81B1-F3E1EE89CE18}"/>
              </a:ext>
            </a:extLst>
          </p:cNvPr>
          <p:cNvSpPr txBox="1"/>
          <p:nvPr/>
        </p:nvSpPr>
        <p:spPr>
          <a:xfrm>
            <a:off x="536211" y="438716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3293D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444D362-AAEF-46AF-95B8-4378AFC05844}"/>
              </a:ext>
            </a:extLst>
          </p:cNvPr>
          <p:cNvSpPr txBox="1"/>
          <p:nvPr/>
        </p:nvSpPr>
        <p:spPr>
          <a:xfrm>
            <a:off x="1084850" y="42396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 pitchFamily="34" charset="-122"/>
                <a:cs typeface="Times New Roman" panose="02020603050405020304" pitchFamily="18" charset="0"/>
              </a:rPr>
              <a:t>The final model explains 37.1% of NOx variance (Adj. R²), with inference accounting for confirmed heteroskedasticity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kumimoji="0" lang="en-US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8EE9C0B1-12BE-4CBE-BD67-27DD1B568B43}"/>
              </a:ext>
            </a:extLst>
          </p:cNvPr>
          <p:cNvSpPr/>
          <p:nvPr/>
        </p:nvSpPr>
        <p:spPr>
          <a:xfrm>
            <a:off x="536211" y="5392743"/>
            <a:ext cx="384048" cy="384048"/>
          </a:xfrm>
          <a:prstGeom prst="ellipse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B0334651-0370-4C01-8939-3303329533ED}"/>
              </a:ext>
            </a:extLst>
          </p:cNvPr>
          <p:cNvSpPr txBox="1"/>
          <p:nvPr/>
        </p:nvSpPr>
        <p:spPr>
          <a:xfrm>
            <a:off x="536211" y="53927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3293D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C325830E-E667-44F2-8E04-A70E378B68EC}"/>
              </a:ext>
            </a:extLst>
          </p:cNvPr>
          <p:cNvSpPr txBox="1"/>
          <p:nvPr/>
        </p:nvSpPr>
        <p:spPr>
          <a:xfrm>
            <a:off x="1084850" y="5283455"/>
            <a:ext cx="109621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/>
                <a:cs typeface="Times New Roman"/>
              </a:rPr>
              <a:t>Cooler, drier ambient air and a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Times New Roman"/>
              </a:rPr>
              <a:t>hotter restricted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/>
                <a:cs typeface="Times New Roman"/>
              </a:rPr>
              <a:t> combustion process are all associated with higher NOx emissions.</a:t>
            </a:r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B8A38D33-0B1A-48E5-A853-98D1B9A39EAD}"/>
              </a:ext>
            </a:extLst>
          </p:cNvPr>
          <p:cNvSpPr/>
          <p:nvPr/>
        </p:nvSpPr>
        <p:spPr>
          <a:xfrm>
            <a:off x="536211" y="6415892"/>
            <a:ext cx="11064240" cy="0"/>
          </a:xfrm>
          <a:prstGeom prst="line">
            <a:avLst/>
          </a:prstGeom>
          <a:noFill/>
          <a:ln w="12700">
            <a:solidFill>
              <a:srgbClr val="2A4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8D3AC458-759A-43D4-98BC-2DD5FF31CED4}"/>
              </a:ext>
            </a:extLst>
          </p:cNvPr>
          <p:cNvSpPr txBox="1"/>
          <p:nvPr/>
        </p:nvSpPr>
        <p:spPr>
          <a:xfrm>
            <a:off x="1129025" y="3425152"/>
            <a:ext cx="109621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/>
                <a:cs typeface="Times New Roman"/>
              </a:rPr>
              <a:t>Forward selection and VIF-driven elimination independently converge on the same 6-variable model: AT, AP, AH, AFDP,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Times New Roman"/>
              </a:rPr>
              <a:t> 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ea typeface="Calibri"/>
                <a:cs typeface="Times New Roman"/>
              </a:rPr>
              <a:t>TIT, TAT.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777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F6D5EC6F-E773-40CF-A9C0-42F5AC0BD427}"/>
              </a:ext>
            </a:extLst>
          </p:cNvPr>
          <p:cNvSpPr txBox="1"/>
          <p:nvPr/>
        </p:nvSpPr>
        <p:spPr>
          <a:xfrm>
            <a:off x="-2299" y="-24598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Appendix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406568-CF7F-6A5A-18BD-E04FDC421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9" t="123" r="15211"/>
          <a:stretch>
            <a:fillRect/>
          </a:stretch>
        </p:blipFill>
        <p:spPr>
          <a:xfrm>
            <a:off x="-1325" y="646114"/>
            <a:ext cx="6207975" cy="62118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2F3F4-C20F-845A-571D-6C3BB7B5D4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313" t="47" r="21380" b="-47"/>
          <a:stretch>
            <a:fillRect/>
          </a:stretch>
        </p:blipFill>
        <p:spPr>
          <a:xfrm>
            <a:off x="5618904" y="648730"/>
            <a:ext cx="6414413" cy="555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73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D1197-EC06-E920-24B5-31891305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4A20D1BD-6FBC-7F17-7949-0961CDE7CD86}"/>
              </a:ext>
            </a:extLst>
          </p:cNvPr>
          <p:cNvSpPr txBox="1"/>
          <p:nvPr/>
        </p:nvSpPr>
        <p:spPr>
          <a:xfrm>
            <a:off x="-2299" y="-24598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Appendix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00B83-D011-4C93-EFC3-8CCAB1CFF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04" y="596347"/>
            <a:ext cx="5396594" cy="6162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24956-750D-BB9C-8ED7-D320EB310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592" y="596348"/>
            <a:ext cx="6262034" cy="531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53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80F80-BD7B-6441-9997-FBEEA932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CD969448-77EB-094F-DCAA-5EE0F64C7746}"/>
              </a:ext>
            </a:extLst>
          </p:cNvPr>
          <p:cNvSpPr txBox="1"/>
          <p:nvPr/>
        </p:nvSpPr>
        <p:spPr>
          <a:xfrm>
            <a:off x="-2299" y="-24598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Appendix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CA51561-51AE-598B-65E6-B9A574F53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11" y="596348"/>
            <a:ext cx="5346168" cy="5996609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C4FB1F0-86E1-3DCA-822C-E233A0346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881" y="596348"/>
            <a:ext cx="6592326" cy="536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0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2C84A-8C04-BF11-7E32-E3EB30D9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8E79ED-71A6-83D2-66F8-2EA7914DD551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E4A3CC-E666-B2A3-1B23-179C9C27553D}"/>
              </a:ext>
            </a:extLst>
          </p:cNvPr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CAA857-26F7-0757-53B9-CBF1410832B6}"/>
              </a:ext>
            </a:extLst>
          </p:cNvPr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 Regression Results</a:t>
            </a:r>
            <a:endParaRPr lang="en-US" sz="28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2C21DABE-F5E7-F302-A5BB-22123FF2F608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91FD757A-82AC-D27B-42CF-8DC7CD8147C0}"/>
              </a:ext>
            </a:extLst>
          </p:cNvPr>
          <p:cNvSpPr/>
          <p:nvPr/>
        </p:nvSpPr>
        <p:spPr>
          <a:xfrm>
            <a:off x="-13716" y="980332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B64AF609-7954-F095-C6AF-0FEC0BF9BBF0}"/>
              </a:ext>
            </a:extLst>
          </p:cNvPr>
          <p:cNvSpPr/>
          <p:nvPr/>
        </p:nvSpPr>
        <p:spPr>
          <a:xfrm>
            <a:off x="0" y="6557195"/>
            <a:ext cx="12188952" cy="1361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7BB02C-C03E-767C-75E2-B59BBCBAF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01" y="1262838"/>
            <a:ext cx="7056223" cy="51635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97A91E-BBF1-2E16-E8F3-BE67F30A9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974" y="1952908"/>
            <a:ext cx="42386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66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53A84-3EE4-0211-EB6A-DD50A72F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7DD188-FBAF-5BB4-3C36-69E597697256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2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C02F4B-32C5-38D1-638B-AC71C9A2B228}"/>
              </a:ext>
            </a:extLst>
          </p:cNvPr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069084-B3D1-C136-A64C-3D630F74297C}"/>
              </a:ext>
            </a:extLst>
          </p:cNvPr>
          <p:cNvSpPr txBox="1"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 Regression Results</a:t>
            </a:r>
            <a:endParaRPr lang="en-US" sz="28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B0FDF6C-EF07-9C72-374D-CD139A4A71CD}"/>
              </a:ext>
            </a:extLst>
          </p:cNvPr>
          <p:cNvSpPr/>
          <p:nvPr/>
        </p:nvSpPr>
        <p:spPr>
          <a:xfrm>
            <a:off x="3048" y="6557195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EB3DBC48-E56F-C592-337D-23A37E1105A0}"/>
              </a:ext>
            </a:extLst>
          </p:cNvPr>
          <p:cNvSpPr/>
          <p:nvPr/>
        </p:nvSpPr>
        <p:spPr>
          <a:xfrm>
            <a:off x="-13716" y="980332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62ABF3B5-E9A6-E049-A4A4-CFD872FA5080}"/>
              </a:ext>
            </a:extLst>
          </p:cNvPr>
          <p:cNvSpPr/>
          <p:nvPr/>
        </p:nvSpPr>
        <p:spPr>
          <a:xfrm>
            <a:off x="0" y="6557195"/>
            <a:ext cx="12188952" cy="1361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D24CD-EB61-224A-8BB1-2FF26AB07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0169"/>
            <a:ext cx="5959356" cy="4648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8ED823-1791-4322-128E-F2621EA1A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433" y="2316383"/>
            <a:ext cx="4688888" cy="296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02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428D5-6AF2-621A-ADCE-454FBB8E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1078DC66-3A4E-C73A-B981-CF09F0E684F9}"/>
              </a:ext>
            </a:extLst>
          </p:cNvPr>
          <p:cNvSpPr txBox="1"/>
          <p:nvPr/>
        </p:nvSpPr>
        <p:spPr>
          <a:xfrm>
            <a:off x="-2299" y="-245980"/>
            <a:ext cx="11247120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/>
                <a:ea typeface="Cambria"/>
                <a:cs typeface="Cambria" pitchFamily="34" charset="-120"/>
              </a:rPr>
              <a:t>Key Formulas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06675F5-BD42-1DD6-8DCA-462186DAF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11" y="1005609"/>
            <a:ext cx="2381250" cy="990600"/>
          </a:xfrm>
          <a:prstGeom prst="rect">
            <a:avLst/>
          </a:prstGeom>
        </p:spPr>
      </p:pic>
      <p:pic>
        <p:nvPicPr>
          <p:cNvPr id="8" name="Picture 7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68760132-195A-AEC1-F7AC-D7C16B47E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98" y="2338557"/>
            <a:ext cx="6000750" cy="1295400"/>
          </a:xfrm>
          <a:prstGeom prst="rect">
            <a:avLst/>
          </a:prstGeom>
        </p:spPr>
      </p:pic>
      <p:pic>
        <p:nvPicPr>
          <p:cNvPr id="9" name="Picture 8" descr="A close-up of a smiley face&#10;&#10;AI-generated content may be incorrect.">
            <a:extLst>
              <a:ext uri="{FF2B5EF4-FFF2-40B4-BE49-F238E27FC236}">
                <a16:creationId xmlns:a16="http://schemas.microsoft.com/office/drawing/2014/main" id="{0EC20435-18C6-133A-37B4-7A9EBAC4B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88" y="3988584"/>
            <a:ext cx="4086225" cy="962025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40B204B-3D49-AE41-9E7A-575835E153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676" y="5241424"/>
            <a:ext cx="5324475" cy="1200150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242635A-177D-265B-7110-0BF5A07207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0298" y="1010516"/>
            <a:ext cx="3876675" cy="1581150"/>
          </a:xfrm>
          <a:prstGeom prst="rect">
            <a:avLst/>
          </a:prstGeom>
        </p:spPr>
      </p:pic>
      <p:sp>
        <p:nvSpPr>
          <p:cNvPr id="16" name="Shape 0">
            <a:extLst>
              <a:ext uri="{FF2B5EF4-FFF2-40B4-BE49-F238E27FC236}">
                <a16:creationId xmlns:a16="http://schemas.microsoft.com/office/drawing/2014/main" id="{7AD761A3-AEEA-8900-7469-9A9F002E6F2D}"/>
              </a:ext>
            </a:extLst>
          </p:cNvPr>
          <p:cNvSpPr/>
          <p:nvPr/>
        </p:nvSpPr>
        <p:spPr>
          <a:xfrm>
            <a:off x="0" y="6536982"/>
            <a:ext cx="12188952" cy="146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506F68D-F9F2-0796-2E96-73BFBC73F290}"/>
              </a:ext>
            </a:extLst>
          </p:cNvPr>
          <p:cNvSpPr/>
          <p:nvPr/>
        </p:nvSpPr>
        <p:spPr>
          <a:xfrm>
            <a:off x="3048" y="666191"/>
            <a:ext cx="12188952" cy="1260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10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0A2C22A-62DA-415A-AB8B-A63FAACCD62C}"/>
              </a:ext>
            </a:extLst>
          </p:cNvPr>
          <p:cNvGrpSpPr/>
          <p:nvPr/>
        </p:nvGrpSpPr>
        <p:grpSpPr>
          <a:xfrm>
            <a:off x="3048" y="1505443"/>
            <a:ext cx="12188952" cy="3847114"/>
            <a:chOff x="3048" y="997495"/>
            <a:chExt cx="12188952" cy="3847114"/>
          </a:xfrm>
        </p:grpSpPr>
        <p:sp>
          <p:nvSpPr>
            <p:cNvPr id="22" name="Shape 0">
              <a:extLst>
                <a:ext uri="{FF2B5EF4-FFF2-40B4-BE49-F238E27FC236}">
                  <a16:creationId xmlns:a16="http://schemas.microsoft.com/office/drawing/2014/main" id="{07D22DE4-4196-42B5-B939-CAE4C2A7B798}"/>
                </a:ext>
              </a:extLst>
            </p:cNvPr>
            <p:cNvSpPr/>
            <p:nvPr/>
          </p:nvSpPr>
          <p:spPr>
            <a:xfrm>
              <a:off x="3048" y="4588246"/>
              <a:ext cx="12188952" cy="256363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23" name="Shape 1">
              <a:extLst>
                <a:ext uri="{FF2B5EF4-FFF2-40B4-BE49-F238E27FC236}">
                  <a16:creationId xmlns:a16="http://schemas.microsoft.com/office/drawing/2014/main" id="{467BFFB4-F1F4-4271-A1D6-E5D2D9D9C201}"/>
                </a:ext>
              </a:extLst>
            </p:cNvPr>
            <p:cNvSpPr/>
            <p:nvPr/>
          </p:nvSpPr>
          <p:spPr>
            <a:xfrm>
              <a:off x="3048" y="997495"/>
              <a:ext cx="12188952" cy="256362"/>
            </a:xfrm>
            <a:prstGeom prst="rect">
              <a:avLst/>
            </a:prstGeom>
            <a:solidFill>
              <a:srgbClr val="D9A441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052B7D-FE13-496E-AD3E-F16ABD9AFD0F}"/>
              </a:ext>
            </a:extLst>
          </p:cNvPr>
          <p:cNvSpPr txBox="1"/>
          <p:nvPr/>
        </p:nvSpPr>
        <p:spPr>
          <a:xfrm>
            <a:off x="2451717" y="2497976"/>
            <a:ext cx="728856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1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71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EDB9B7E4B65E4589C25FFA1D34EB07" ma:contentTypeVersion="5" ma:contentTypeDescription="Create a new document." ma:contentTypeScope="" ma:versionID="4edd47d0545d576a37acf55f28b7e87e">
  <xsd:schema xmlns:xsd="http://www.w3.org/2001/XMLSchema" xmlns:xs="http://www.w3.org/2001/XMLSchema" xmlns:p="http://schemas.microsoft.com/office/2006/metadata/properties" xmlns:ns3="356fd9a8-0d88-4c12-ab55-fc6a5fd0423f" targetNamespace="http://schemas.microsoft.com/office/2006/metadata/properties" ma:root="true" ma:fieldsID="73fcd8db34e87289707df7c4bb388d1c" ns3:_="">
    <xsd:import namespace="356fd9a8-0d88-4c12-ab55-fc6a5fd0423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fd9a8-0d88-4c12-ab55-fc6a5fd0423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6fd9a8-0d88-4c12-ab55-fc6a5fd0423f" xsi:nil="true"/>
  </documentManagement>
</p:properties>
</file>

<file path=customXml/itemProps1.xml><?xml version="1.0" encoding="utf-8"?>
<ds:datastoreItem xmlns:ds="http://schemas.openxmlformats.org/officeDocument/2006/customXml" ds:itemID="{53D50CCB-FE13-4A74-B1F0-CA4A807D6E0E}">
  <ds:schemaRefs>
    <ds:schemaRef ds:uri="356fd9a8-0d88-4c12-ab55-fc6a5fd0423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268BCF1-CC46-4E9E-845C-8CD495BF1E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E0E0C9-9336-4D6A-9078-05850C482C5D}">
  <ds:schemaRefs>
    <ds:schemaRef ds:uri="356fd9a8-0d88-4c12-ab55-fc6a5fd0423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1356</Words>
  <Application>Microsoft Office PowerPoint</Application>
  <PresentationFormat>Widescreen</PresentationFormat>
  <Paragraphs>248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Cambria Math</vt:lpstr>
      <vt:lpstr>Times New Roman</vt:lpstr>
      <vt:lpstr>WordVisi_MSFontService</vt:lpstr>
      <vt:lpstr>WordVisiCarriageReturn_MSFontService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Subodh Singh</cp:lastModifiedBy>
  <cp:revision>115</cp:revision>
  <dcterms:created xsi:type="dcterms:W3CDTF">2026-09-27T19:33:05Z</dcterms:created>
  <dcterms:modified xsi:type="dcterms:W3CDTF">2026-10-04T07:24:03Z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0x010100F1EDB9B7E4B65E4589C25FFA1D34EB07</vt:lpwstr>
  </property>
</Properties>
</file>